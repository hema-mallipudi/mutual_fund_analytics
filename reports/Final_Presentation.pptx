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3821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90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96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026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3898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720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769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78436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204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974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21980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39541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73126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7416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9848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68575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31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308DA35-EEB0-4CBF-B497-97929B206363}" type="datetimeFigureOut">
              <a:rPr lang="en-IN" smtClean="0"/>
              <a:t>16-06-2026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A4D19FB-755F-411C-9153-E56346301A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653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146B7-ACC7-07C1-7D5B-33A73FEEC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8300" y="1166219"/>
            <a:ext cx="8915399" cy="2262781"/>
          </a:xfrm>
        </p:spPr>
        <p:txBody>
          <a:bodyPr>
            <a:normAutofit/>
          </a:bodyPr>
          <a:lstStyle/>
          <a:p>
            <a:r>
              <a:rPr lang="en-IN" sz="4400" dirty="0" err="1"/>
              <a:t>BlueStock</a:t>
            </a:r>
            <a:r>
              <a:rPr lang="en-IN" sz="4400" dirty="0"/>
              <a:t> Mutual Fund </a:t>
            </a:r>
            <a:br>
              <a:rPr lang="en-IN" sz="4400" dirty="0"/>
            </a:br>
            <a:r>
              <a:rPr lang="en-IN" sz="4400" dirty="0"/>
              <a:t>Analytics Capstone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6C058-2B40-2603-0B19-E6F5A8AEE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30906" y="3721765"/>
            <a:ext cx="6866020" cy="1320802"/>
          </a:xfrm>
        </p:spPr>
        <p:txBody>
          <a:bodyPr>
            <a:normAutofit/>
          </a:bodyPr>
          <a:lstStyle/>
          <a:p>
            <a:r>
              <a:rPr lang="en-IN" b="1" dirty="0"/>
              <a:t>Presented By:</a:t>
            </a:r>
            <a:br>
              <a:rPr lang="en-IN" dirty="0"/>
            </a:br>
            <a:r>
              <a:rPr lang="en-IN" dirty="0"/>
              <a:t>Hema Mallipudi</a:t>
            </a:r>
          </a:p>
        </p:txBody>
      </p:sp>
    </p:spTree>
    <p:extLst>
      <p:ext uri="{BB962C8B-B14F-4D97-AF65-F5344CB8AC3E}">
        <p14:creationId xmlns:p14="http://schemas.microsoft.com/office/powerpoint/2010/main" val="3746232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232FA-B177-5CEC-5B53-53DF1024F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169985"/>
            <a:ext cx="10205498" cy="1280890"/>
          </a:xfrm>
        </p:spPr>
        <p:txBody>
          <a:bodyPr/>
          <a:lstStyle/>
          <a:p>
            <a:pPr algn="l"/>
            <a:r>
              <a:rPr lang="en-IN" dirty="0">
                <a:latin typeface="Algerian" panose="04020705040A02060702" pitchFamily="82" charset="0"/>
              </a:rPr>
              <a:t>Problem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Statement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7055A-192A-87E8-7686-5C52DDD14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/>
              <a:t>Investors face challenges in:</a:t>
            </a:r>
          </a:p>
          <a:p>
            <a:r>
              <a:rPr lang="en-IN" sz="2400" dirty="0"/>
              <a:t>Comparing mutual funds </a:t>
            </a:r>
          </a:p>
          <a:p>
            <a:r>
              <a:rPr lang="en-IN" sz="2400" dirty="0"/>
              <a:t>Understanding risk-adjusted returns </a:t>
            </a:r>
          </a:p>
          <a:p>
            <a:r>
              <a:rPr lang="en-IN" sz="2400" dirty="0"/>
              <a:t>Tracking investor </a:t>
            </a:r>
            <a:r>
              <a:rPr lang="en-IN" sz="2400" dirty="0" err="1"/>
              <a:t>behavior</a:t>
            </a:r>
            <a:r>
              <a:rPr lang="en-IN" sz="2400" dirty="0"/>
              <a:t> </a:t>
            </a:r>
          </a:p>
          <a:p>
            <a:r>
              <a:rPr lang="en-IN" sz="2400" dirty="0"/>
              <a:t>Evaluating portfolio diversification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9454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2F5554-1324-6A97-3DF9-C97640A27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1" y="1276042"/>
            <a:ext cx="10209211" cy="1280890"/>
          </a:xfrm>
        </p:spPr>
        <p:txBody>
          <a:bodyPr/>
          <a:lstStyle/>
          <a:p>
            <a:pPr algn="l"/>
            <a:r>
              <a:rPr lang="en-IN" dirty="0">
                <a:latin typeface="Algerian" panose="04020705040A02060702" pitchFamily="82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2213C-6E2B-876D-BBBE-E0185042F4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Build ETL Pipeline</a:t>
            </a:r>
          </a:p>
          <a:p>
            <a:r>
              <a:rPr lang="en-IN" sz="2000" dirty="0"/>
              <a:t> Create SQLite Database</a:t>
            </a:r>
          </a:p>
          <a:p>
            <a:r>
              <a:rPr lang="en-IN" sz="2000" dirty="0"/>
              <a:t> Perform EDA</a:t>
            </a:r>
          </a:p>
          <a:p>
            <a:r>
              <a:rPr lang="en-IN" sz="2000" dirty="0"/>
              <a:t> Calculate Performance Metrics</a:t>
            </a:r>
          </a:p>
          <a:p>
            <a:r>
              <a:rPr lang="en-IN" sz="2000" dirty="0"/>
              <a:t> Build Power BI Dashboard</a:t>
            </a:r>
          </a:p>
          <a:p>
            <a:r>
              <a:rPr lang="en-IN" sz="2000" dirty="0"/>
              <a:t> Perform Advanced Analytics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646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BE46C-573D-F5A2-29C6-FDC67DE88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767" y="1363578"/>
            <a:ext cx="8911687" cy="830179"/>
          </a:xfrm>
        </p:spPr>
        <p:txBody>
          <a:bodyPr/>
          <a:lstStyle/>
          <a:p>
            <a:pPr algn="l"/>
            <a:r>
              <a:rPr lang="en-IN" dirty="0">
                <a:latin typeface="Algerian" panose="04020705040A02060702" pitchFamily="82" charset="0"/>
              </a:rPr>
              <a:t>Project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60F93-9D8F-2D46-E753-4CAEEB6FE9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767" y="2683041"/>
            <a:ext cx="8915400" cy="3284623"/>
          </a:xfrm>
        </p:spPr>
        <p:txBody>
          <a:bodyPr>
            <a:noAutofit/>
          </a:bodyPr>
          <a:lstStyle/>
          <a:p>
            <a:r>
              <a:rPr lang="en-IN" sz="2000" dirty="0"/>
              <a:t>Raw Data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ETL Pipeline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Data Cleaning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SQLite Database</a:t>
            </a:r>
            <a:br>
              <a:rPr lang="en-IN" sz="2000" dirty="0"/>
            </a:br>
            <a:r>
              <a:rPr lang="en-IN" sz="2000" dirty="0"/>
              <a:t>↓</a:t>
            </a:r>
            <a:br>
              <a:rPr lang="en-IN" sz="2000" dirty="0"/>
            </a:br>
            <a:r>
              <a:rPr lang="en-IN" sz="2000" dirty="0"/>
              <a:t>EDA &amp; Analytics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sz="2000" dirty="0"/>
              <a:t>Power BI Dashboard </a:t>
            </a:r>
            <a:r>
              <a:rPr lang="en-IN" sz="2000" dirty="0">
                <a:sym typeface="Wingdings" panose="05000000000000000000" pitchFamily="2" charset="2"/>
              </a:rPr>
              <a:t> </a:t>
            </a:r>
            <a:r>
              <a:rPr lang="en-IN" sz="2000" dirty="0"/>
              <a:t>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264398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3FD50-0E23-D3EA-42B3-1134087E2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6177" y="1062642"/>
            <a:ext cx="8911687" cy="798095"/>
          </a:xfrm>
        </p:spPr>
        <p:txBody>
          <a:bodyPr/>
          <a:lstStyle/>
          <a:p>
            <a:pPr algn="l"/>
            <a:r>
              <a:rPr lang="en-IN" dirty="0">
                <a:latin typeface="Algerian" panose="04020705040A02060702" pitchFamily="82" charset="0"/>
              </a:rPr>
              <a:t>EDA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0FA35-D47F-7C6B-DB0A-2CB3AFC25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3758" y="2566735"/>
            <a:ext cx="4822241" cy="3228623"/>
          </a:xfrm>
        </p:spPr>
        <p:txBody>
          <a:bodyPr/>
          <a:lstStyle/>
          <a:p>
            <a:r>
              <a:rPr lang="en-IN" sz="2000" b="1" dirty="0"/>
              <a:t>AUM Growth Analysis</a:t>
            </a:r>
          </a:p>
          <a:p>
            <a:pPr marL="0" indent="0">
              <a:buNone/>
            </a:pPr>
            <a:r>
              <a:rPr lang="en-IN" sz="2000" dirty="0"/>
              <a:t>      Key Insight:</a:t>
            </a:r>
          </a:p>
          <a:p>
            <a:pPr marL="0" indent="0">
              <a:buNone/>
            </a:pPr>
            <a:r>
              <a:rPr lang="en-IN" sz="2000" dirty="0"/>
              <a:t>      Large fund houses dominate industry AUM. </a:t>
            </a:r>
          </a:p>
          <a:p>
            <a:r>
              <a:rPr lang="en-IN" sz="2000" b="1" dirty="0"/>
              <a:t>NAV Trend Analysis</a:t>
            </a:r>
          </a:p>
          <a:p>
            <a:pPr marL="0" indent="0">
              <a:buNone/>
            </a:pPr>
            <a:r>
              <a:rPr lang="en-IN" sz="2000" dirty="0"/>
              <a:t>	Key Insight:</a:t>
            </a:r>
          </a:p>
          <a:p>
            <a:pPr marL="0" indent="0">
              <a:buNone/>
            </a:pPr>
            <a:r>
              <a:rPr lang="en-IN" sz="2000" dirty="0"/>
              <a:t>	Equity funds showed consistent long-term growth.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2B2A23-253D-4DCB-4DC8-C3737B5954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4146" y="577259"/>
            <a:ext cx="5291677" cy="2454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6C02E5D-B452-A1A4-B244-64610B723B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384737"/>
            <a:ext cx="5291676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864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9ECC4-5FC4-91C7-5992-597E588DB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4800598" cy="130386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EDA Highlights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043D8-A443-0D51-39D2-92BF7CFC8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592052" cy="3318936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SIP Inflow Analysis</a:t>
            </a:r>
          </a:p>
          <a:p>
            <a:pPr marL="0" indent="0">
              <a:buNone/>
            </a:pPr>
            <a:r>
              <a:rPr lang="en-IN" dirty="0"/>
              <a:t>	Key Insight:</a:t>
            </a:r>
          </a:p>
          <a:p>
            <a:pPr marL="0" indent="0">
              <a:buNone/>
            </a:pPr>
            <a:r>
              <a:rPr lang="en-IN" dirty="0"/>
              <a:t>	SIP participation increased steadily. </a:t>
            </a:r>
          </a:p>
          <a:p>
            <a:r>
              <a:rPr lang="en-IN" b="1" dirty="0"/>
              <a:t>Investor Demographics</a:t>
            </a:r>
          </a:p>
          <a:p>
            <a:pPr marL="0" indent="0">
              <a:buNone/>
            </a:pPr>
            <a:r>
              <a:rPr lang="en-IN" dirty="0"/>
              <a:t>	Key Insight:</a:t>
            </a:r>
          </a:p>
          <a:p>
            <a:pPr marL="0" indent="0">
              <a:buNone/>
            </a:pPr>
            <a:r>
              <a:rPr lang="en-IN" dirty="0"/>
              <a:t>	26–35 age group contributed most investments.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866FA0-1C86-32C4-A044-947796EA9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622" y="743094"/>
            <a:ext cx="3850106" cy="23550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10177F-6CB4-E3F7-59BD-0F2ADCAB9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622" y="3429000"/>
            <a:ext cx="3850106" cy="272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935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9AF27-7983-C0E6-F707-A1C902A24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1022" y="982132"/>
            <a:ext cx="10062409" cy="1034715"/>
          </a:xfrm>
        </p:spPr>
        <p:txBody>
          <a:bodyPr>
            <a:normAutofit/>
          </a:bodyPr>
          <a:lstStyle/>
          <a:p>
            <a:r>
              <a:rPr lang="en-IN" dirty="0">
                <a:latin typeface="Algerian" panose="04020705040A02060702" pitchFamily="82" charset="0"/>
              </a:rPr>
              <a:t>Performance Analytics – Part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B00DDF-8E5E-0E1B-7E26-062527068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8041104" cy="3318936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Metrics Calculated</a:t>
            </a:r>
          </a:p>
          <a:p>
            <a:r>
              <a:rPr lang="en-IN" dirty="0"/>
              <a:t>CAGR </a:t>
            </a:r>
          </a:p>
          <a:p>
            <a:r>
              <a:rPr lang="en-IN" dirty="0"/>
              <a:t>Sharpe Ratio </a:t>
            </a:r>
          </a:p>
          <a:p>
            <a:r>
              <a:rPr lang="en-IN" dirty="0"/>
              <a:t>Sortino Ratio </a:t>
            </a:r>
          </a:p>
          <a:p>
            <a:r>
              <a:rPr lang="en-IN" b="1" dirty="0"/>
              <a:t>Key Findings</a:t>
            </a:r>
          </a:p>
          <a:p>
            <a:r>
              <a:rPr lang="en-IN" dirty="0"/>
              <a:t>High Sharpe Ratio funds delivered better risk-adjusted returns. </a:t>
            </a:r>
          </a:p>
          <a:p>
            <a:r>
              <a:rPr lang="en-IN" dirty="0"/>
              <a:t>Sortino Ratio highlighted downside protection.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7A6817-73DC-B1DC-7E46-C3B37A524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6592" y="2155185"/>
            <a:ext cx="5419034" cy="2685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45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6C839-F9AE-A6DD-930C-3F9340AAF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5313945" cy="1303867"/>
          </a:xfrm>
        </p:spPr>
        <p:txBody>
          <a:bodyPr>
            <a:normAutofit fontScale="90000"/>
          </a:bodyPr>
          <a:lstStyle/>
          <a:p>
            <a:pPr algn="l"/>
            <a:r>
              <a:rPr lang="en-IN" dirty="0">
                <a:latin typeface="Algerian" panose="04020705040A02060702" pitchFamily="82" charset="0"/>
              </a:rPr>
              <a:t>Performance Analytics – Part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BDEB4A-9841-FD26-ACEB-078B9A80C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5586662" cy="3318936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Additional Metrics</a:t>
            </a:r>
          </a:p>
          <a:p>
            <a:pPr marL="0" indent="0">
              <a:buNone/>
            </a:pPr>
            <a:r>
              <a:rPr lang="en-IN" dirty="0"/>
              <a:t>	Alpha </a:t>
            </a:r>
          </a:p>
          <a:p>
            <a:pPr marL="0" indent="0">
              <a:buNone/>
            </a:pPr>
            <a:r>
              <a:rPr lang="en-IN" dirty="0"/>
              <a:t>	Beta </a:t>
            </a:r>
          </a:p>
          <a:p>
            <a:pPr marL="0" indent="0">
              <a:buNone/>
            </a:pPr>
            <a:r>
              <a:rPr lang="en-IN" dirty="0"/>
              <a:t>	Maximum Drawdown </a:t>
            </a:r>
          </a:p>
          <a:p>
            <a:r>
              <a:rPr lang="en-IN" b="1" dirty="0"/>
              <a:t>Key Findings</a:t>
            </a:r>
          </a:p>
          <a:p>
            <a:pPr marL="0" indent="0">
              <a:buNone/>
            </a:pPr>
            <a:r>
              <a:rPr lang="en-IN" dirty="0"/>
              <a:t>	Some funds generated positive Alpha. </a:t>
            </a:r>
          </a:p>
          <a:p>
            <a:pPr marL="0" indent="0">
              <a:buNone/>
            </a:pPr>
            <a:r>
              <a:rPr lang="en-IN" dirty="0"/>
              <a:t>	Beta identified aggressive vs defensive funds.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A4735-7AC0-8C20-3BEF-B6862A92D5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9347" y="709417"/>
            <a:ext cx="4936639" cy="24468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D6B0F71-6588-5FD1-D52A-0C6B49D1D0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063" y="3427218"/>
            <a:ext cx="4472504" cy="266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21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A28BF-8D19-667D-06B3-E7D24D3CB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Dashboard – Industry Overview &amp; Fund Performance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8A96B0-EBFB-117F-BC88-65E8C0F161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484" y="2655415"/>
            <a:ext cx="4989095" cy="32204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4D2A70-FA16-423D-A330-4295BF174E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3" y="2734954"/>
            <a:ext cx="4860756" cy="314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34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E2FBED-D32F-37D0-5978-AB441A1B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Dashboard - Investor Analysis &amp; SIP Trends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F64BCB-6F57-B78B-B5D1-B52E2DDB74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876" y="2667979"/>
            <a:ext cx="5186124" cy="30740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EA306C8-1B81-E0FE-B22B-110F94E564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9137" y="2644988"/>
            <a:ext cx="4906723" cy="3097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6873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7EDC6-3D46-178C-BC00-FB192E85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latin typeface="Algerian" panose="04020705040A02060702" pitchFamily="82" charset="0"/>
              </a:rPr>
              <a:t>Advanced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Analytics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&amp;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Key</a:t>
            </a:r>
            <a:r>
              <a:rPr lang="en-IN" b="1" dirty="0">
                <a:latin typeface="Algerian" panose="04020705040A02060702" pitchFamily="82" charset="0"/>
              </a:rPr>
              <a:t> </a:t>
            </a:r>
            <a:r>
              <a:rPr lang="en-IN" dirty="0">
                <a:latin typeface="Algerian" panose="04020705040A02060702" pitchFamily="82" charset="0"/>
              </a:rPr>
              <a:t>Findings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F03F3E-65A7-2AAE-3B93-CD37EFA0E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1" y="2556932"/>
            <a:ext cx="4319336" cy="3318936"/>
          </a:xfrm>
        </p:spPr>
        <p:txBody>
          <a:bodyPr>
            <a:normAutofit fontScale="92500" lnSpcReduction="10000"/>
          </a:bodyPr>
          <a:lstStyle/>
          <a:p>
            <a:pPr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dirty="0">
                <a:solidFill>
                  <a:srgbClr val="0D0D0D"/>
                </a:solidFill>
              </a:rPr>
              <a:t>Advanced Analytics</a:t>
            </a:r>
          </a:p>
          <a:p>
            <a:pPr>
              <a:buNone/>
            </a:pPr>
            <a:r>
              <a:rPr lang="en-IN" dirty="0">
                <a:solidFill>
                  <a:srgbClr val="0D0D0D"/>
                </a:solidFill>
              </a:rPr>
              <a:t>✔ Value at Risk (</a:t>
            </a:r>
            <a:r>
              <a:rPr lang="en-IN" dirty="0" err="1">
                <a:solidFill>
                  <a:srgbClr val="0D0D0D"/>
                </a:solidFill>
              </a:rPr>
              <a:t>VaR</a:t>
            </a:r>
            <a:r>
              <a:rPr lang="en-IN" dirty="0">
                <a:solidFill>
                  <a:srgbClr val="0D0D0D"/>
                </a:solidFill>
              </a:rPr>
              <a:t>)</a:t>
            </a:r>
          </a:p>
          <a:p>
            <a:pPr>
              <a:buNone/>
            </a:pPr>
            <a:r>
              <a:rPr lang="en-IN" dirty="0">
                <a:solidFill>
                  <a:srgbClr val="0D0D0D"/>
                </a:solidFill>
              </a:rPr>
              <a:t>✔ Conditional </a:t>
            </a:r>
            <a:r>
              <a:rPr lang="en-IN" dirty="0" err="1">
                <a:solidFill>
                  <a:srgbClr val="0D0D0D"/>
                </a:solidFill>
              </a:rPr>
              <a:t>VaR</a:t>
            </a:r>
            <a:r>
              <a:rPr lang="en-IN" dirty="0">
                <a:solidFill>
                  <a:srgbClr val="0D0D0D"/>
                </a:solidFill>
              </a:rPr>
              <a:t> (CVaR)</a:t>
            </a:r>
          </a:p>
          <a:p>
            <a:pPr>
              <a:buNone/>
            </a:pPr>
            <a:r>
              <a:rPr lang="en-IN" dirty="0">
                <a:solidFill>
                  <a:srgbClr val="0D0D0D"/>
                </a:solidFill>
              </a:rPr>
              <a:t>✔ Investor Cohort Analysis</a:t>
            </a:r>
          </a:p>
          <a:p>
            <a:pPr>
              <a:buNone/>
            </a:pPr>
            <a:r>
              <a:rPr lang="en-IN" dirty="0">
                <a:solidFill>
                  <a:srgbClr val="0D0D0D"/>
                </a:solidFill>
              </a:rPr>
              <a:t>✔ SIP Continuity Analysis</a:t>
            </a:r>
          </a:p>
          <a:p>
            <a:pPr>
              <a:buNone/>
            </a:pPr>
            <a:r>
              <a:rPr lang="en-IN" dirty="0">
                <a:solidFill>
                  <a:srgbClr val="0D0D0D"/>
                </a:solidFill>
              </a:rPr>
              <a:t>✔ Fund Recommendation System</a:t>
            </a:r>
          </a:p>
          <a:p>
            <a:pPr>
              <a:buNone/>
            </a:pPr>
            <a:r>
              <a:rPr lang="en-IN" dirty="0">
                <a:solidFill>
                  <a:srgbClr val="0D0D0D"/>
                </a:solidFill>
              </a:rPr>
              <a:t>✔ HHI Concentration Analysis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189F2B-F1CD-1854-CF61-7C5464D280B1}"/>
              </a:ext>
            </a:extLst>
          </p:cNvPr>
          <p:cNvSpPr txBox="1"/>
          <p:nvPr/>
        </p:nvSpPr>
        <p:spPr>
          <a:xfrm>
            <a:off x="6096000" y="2556932"/>
            <a:ext cx="41709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Key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Equity funds delivered superior returns.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SIP participation remains strong.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Certain funds exhibited concentration risk.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Cohort analysis revealed investor retention patterns. </a:t>
            </a:r>
          </a:p>
        </p:txBody>
      </p:sp>
    </p:spTree>
    <p:extLst>
      <p:ext uri="{BB962C8B-B14F-4D97-AF65-F5344CB8AC3E}">
        <p14:creationId xmlns:p14="http://schemas.microsoft.com/office/powerpoint/2010/main" val="2161307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1337-1A61-F109-3904-8783F4FB1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Algerian" panose="04020705040A02060702" pitchFamily="82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66FBF3-7544-E1FC-3B3C-B335A8307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/>
              <a:t>The project successfully developed an end-to-end Mutual Fund Analytics Platform integrating ETL, database management, performance analytics, advanced analytics, and interactive dashboards.</a:t>
            </a:r>
          </a:p>
        </p:txBody>
      </p:sp>
    </p:spTree>
    <p:extLst>
      <p:ext uri="{BB962C8B-B14F-4D97-AF65-F5344CB8AC3E}">
        <p14:creationId xmlns:p14="http://schemas.microsoft.com/office/powerpoint/2010/main" val="3358532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4390</TotalTime>
  <Words>315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Algerian</vt:lpstr>
      <vt:lpstr>Arial</vt:lpstr>
      <vt:lpstr>Garamond</vt:lpstr>
      <vt:lpstr>Wingdings</vt:lpstr>
      <vt:lpstr>Organic</vt:lpstr>
      <vt:lpstr>BlueStock Mutual Fund  Analytics Capstone Project</vt:lpstr>
      <vt:lpstr>Problem Statement </vt:lpstr>
      <vt:lpstr>Objectives</vt:lpstr>
      <vt:lpstr>Project Architecture</vt:lpstr>
      <vt:lpstr>EDA Highlights</vt:lpstr>
      <vt:lpstr>EDA Highlights – Part 2</vt:lpstr>
      <vt:lpstr>Performance Analytics – Part 1</vt:lpstr>
      <vt:lpstr>Performance Analytics – Part 2</vt:lpstr>
      <vt:lpstr>Dashboard – Industry Overview &amp; Fund Performance</vt:lpstr>
      <vt:lpstr>Dashboard - Investor Analysis &amp; SIP Trends</vt:lpstr>
      <vt:lpstr>Advanced Analytics &amp; Key Findings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Mallipudi Hema</dc:creator>
  <cp:lastModifiedBy>Mallipudi Hema</cp:lastModifiedBy>
  <cp:revision>1</cp:revision>
  <dcterms:created xsi:type="dcterms:W3CDTF">2026-06-16T15:58:05Z</dcterms:created>
  <dcterms:modified xsi:type="dcterms:W3CDTF">2026-06-19T17:08:43Z</dcterms:modified>
</cp:coreProperties>
</file>